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equipo y del proyecto. Rumbo es un CRM a medida para una agencia de turismo PyME real, con la que hicimos el relevamiento en dos rondas.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sigue la documentación obligatoria de la cátedra y el documento único que entregamos. Cada uno expone su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Situación actual tomada del relevamiento con la agencia (dos rondas: 10/09 y 17/09).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back office argentinos (SAVIA) cubren administración y facturación, pero no el seguimiento comercial ni el CRM proactivo.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Justificación: el trabajo manual pierde ventas y cobros; las herramientas genéricas no entienden reservas, comisiones ni cuotas; y como proyecto integrador combina web, mobile, backend, base relacional, API REST e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Admin, dueña y freelance son especializaciones del empleado: heredan los casos operativos. El freelance no gestiona hoteles, no registra reseñas y no usa redes.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CU-01 De la consulta a la venta: 5 pasos. Diagramas de secuencia, actividad y estados en los anexos del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Cliente, Oportunidad, Cotización, Viaje, Pago, Alerta, Hotel, Reseña, Usuario, ContenidoRed, Destino, RequisitoDestino y Operador, más la clase asociativa ViajeHotel.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iteración por punto de control: PC1 análisis y diseño (02/10), PC2 código (20/11), PC3 pruebas y documentación (04/12). Cada cierre deja un tag en 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tiempo, demo en vivo desde Figma. Si no, las capturas de las diapositivas anteriores alcanzan.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preliminar: en PC2, el contrato de referencia pasa a ser el que genera FastAPI a medida que se escriben los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igma.com/design/5rq8HOlZQ3uu4IUpBuhuZ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5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22960" cy="822960"/>
          </a:xfrm>
          <a:prstGeom prst="roundRect">
            <a:avLst>
              <a:gd name="adj" fmla="val 22222"/>
            </a:avLst>
          </a:prstGeom>
          <a:solidFill>
            <a:srgbClr val="22506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para agencias de turismo PyME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Control 1 · Análisis, diseño y planificación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074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Luciano · Nahuel Viniegra · Paloma Patiño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Morón · Ingeniería Informática · Trabajo de Campo · 02/10/26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vamos a mostrar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84248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80136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general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2037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Antecedentes, justificación, objetivos, alcance, actores y circuito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4963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60020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984248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180136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IA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2037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dentro del producto y su justificación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24963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10896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493008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3493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31012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de IA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37124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 con Claude Code y el vault compartido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0050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310896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3493008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0" y="3493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331012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7124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Clases, entidad-relación y script SQL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40050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Nahuel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61772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2960" y="5001768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2960" y="5001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554480" y="481888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desarrollo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1554480" y="52212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Metodología, calidad e interfaces gráficas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1554480" y="55138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Paloma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26480" y="461772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5001768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5001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81888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9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52212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Despliegue, C4, MVC y contrato OpenAPI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55138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Nahuel y Francisco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PRESENTACIÓN GENERAL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hoy la agencia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00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físicas por viaje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9842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lugar único para ver clientes y viajes juntos.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6243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por Instagram, WhatsApp o en persona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083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seguimiento depende de la memoria de quien atendió.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39896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4845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y vencimientos en planillas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0325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Señas, cuotas y pagos a operadores, sin avisos automáticos.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764024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764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672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Vendedores freelance y operaciones en ARS y USD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0566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saber qué vendió cada uno y cuánto ganó la agencia.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589520" y="1600200"/>
            <a:ext cx="4050792" cy="3931920"/>
          </a:xfrm>
          <a:prstGeom prst="roundRect">
            <a:avLst>
              <a:gd name="adj" fmla="val 2791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0" y="1828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2860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pierden ventas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olvidan cobros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queda memoria del cliente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42062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negocio se sostiene con clientes fieles: llegan pocos nuevos.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PRESENTACIÓN GENERAL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no alcanzan las herramientas que existen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737360"/>
                <a:gridCol w="1554480"/>
                <a:gridCol w="2011680"/>
                <a:gridCol w="194767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Necesidad de la agencia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y mensajería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genérico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turismo EE. UU.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06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Seguir la consulta hasta la venta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Viaje con itinerario, operador y economía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Cuotas y vencimientos con avisos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avisos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Ganancia y comisión freelance en ARS o 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Parcial, 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Recordatorios por requisitos del destino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Recontactar clientes fieles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medida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Español, pesos y costo PyME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documentación pública de HubSpot, Pipedrive, Tern, TravelJoy, Travefy y SAVIA, consultada el 30/09/26. «No se encontró» = la documentación no lo menciona.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PRESENTACIÓN GENERAL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busca resolver Rumbo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Digitalizar y centralizar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carpetas a un único sistema de clientes y viajes.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Fidelizar clientes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con preferencias, historial y recontacto.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21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el circuito de venta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consulta a la cotización y el cierre, sin perder pasos.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la economía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Ganancia, margen, comisión y cuotas, en ARS o USD.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perder vencimientos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pagos, formularios por destino e insistencia.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2104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3210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con datos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estadísticas y reportes mensuales.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PRESENTACIÓN GENERAL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límites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módulos · web y mobile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9659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94760" y="196596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77640" y="19659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y cotización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624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94760" y="2624328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77640" y="2624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y pagos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282696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282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y recordatorios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794760" y="3282696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77640" y="3282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hoteles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941064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9410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sociales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794760" y="3941064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977640" y="39410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y reportes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599432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5994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viajes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794760" y="4599432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977640" y="45994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catálogos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52578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y seguridad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406640" y="1508760"/>
            <a:ext cx="4233672" cy="452628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809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esta etapa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680960" y="214884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online, reembolsos y penalidades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automática en redes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mayoristas y GDS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Cotizador y ofertas por scraping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automáticos al pasajero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(fase 2)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680960" y="5074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Incluido: CRM proactivo (recontacto de clientes fieles) y vencimiento de pago al proveedor por hotel.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PRESENTACIÓN GENERAL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Actores y casos de uso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principal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todo el circuito: clientes, consultas, cotizaciones, viajes, cobros y alertas.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98064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80944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80944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comisiones, destinos, operadores y usuarios, y modera reseñas.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47488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30368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230368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el negocio: dashboard, reportes y alertas de toda la empresa.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96912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79792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79792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 externo: ve y opera solo lo suyo; no toca el catálogo ni las redes.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46336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9216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Pasajero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9729216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externo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Consulta, recibe cotizaciones y paga. No opera el sistema.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en 11 módulos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429768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32" name="Text 30"/>
          <p:cNvSpPr txBox="1"/>
          <p:nvPr/>
        </p:nvSpPr>
        <p:spPr>
          <a:xfrm>
            <a:off x="804672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no funcionales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PRESENTACIÓN GENERAL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circuito que Rumbo digitaliza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o se busca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98064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26664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2666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026664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la oportunidad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47488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76088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7608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Versionable, con vigencia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96912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5512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525512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y seguimiento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525512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 el viaje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546336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74936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7493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774936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y alertas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774936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Cuotas, vencimientos y post-viaje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del viaje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48640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reservado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468880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2798064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798064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4718304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5047488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047488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6967728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7296912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E719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296912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curso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9217152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546336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E71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546336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cobro pasa el viaje a </a:t>
            </a:r>
            <a:pPr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si salda el total, a </a:t>
            </a:r>
            <a:pPr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Un proceso automático corre todos los días a las 00:00: vence pagos y cotizaciones y genera alertas.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MODELOS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dentro del producto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5.5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Borradores de publicaciones para redes (CU-20)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9718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tema, canal y tono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borrador por pedido, que se puede regenerar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LangChain desde el backend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recibe datos de clientes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publica: la publicación es manual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modelo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011680"/>
          <a:ext cx="5422392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0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del texto en español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 (USD por millón de tokens)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Salida (USD por millón de tokens)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217920" y="448056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unas decenas de borradores por mes, la diferencia de costo es de centavos de dólar. Lo que percibe la agencia es la calidad del texto.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 con agentes de 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0" y="164592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146304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89320" y="1572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en contexto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9385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lo nuevo del repositorio y lee el estado y la bitácora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0" y="283464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760720" y="265176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27614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1272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 solo las notas de la tarea y respeta las decisiones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0" y="402336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60720" y="384048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89320" y="39502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43159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Diagramas, entregables y enlaces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0" y="521208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89320" y="51389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y subir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5504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Bitácora, commit con la identidad de cada uno y push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146304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principal: lee el vault, edita notas y diagramas, genera entregables y hace commits.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288036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Exploran el vault en paralelo cuando la búsqueda es amplia.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434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de Figma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800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el prototipo de interfaces directamente en Figma.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760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repositorio es la memoria compartida: lo que no queda escrito no pasa de una sesión a otra.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DATOS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dominio: diagrama de clases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7" name="Image 0" descr="C:\Users\Usuario\Desktop\Vault-Rumbo\03-Dominio\Diagramas\Clases\DGM-cl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0784" y="1325880"/>
            <a:ext cx="4170584" cy="5074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1645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del dominio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017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enumeraciones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3891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120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de estado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DATOS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entidad-relación y 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C:\Users\Usuario\Desktop\Vault-Rumbo\03-Dominio\Diagramas\DER\DGM-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105" y="1325880"/>
            <a:ext cx="4723790" cy="5120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0" y="1463040"/>
            <a:ext cx="5056632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SQL · PostgreSQL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219456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tablas y 20 tipos enumerados nativos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UUID con gen_random_uuid()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en todas las tablas: quién creó y modificó cada registro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y margen como columnas calculadas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cada alerta tiene a lo sumo un origen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corriéndolo en PostgreSQL 18 con casos de prueba permitidos y rechazados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577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PC2, la primera migración de Alembic lo reproduce.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desarrollo: iterativo e incremental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7" name="Image 0" descr="C:\Users\Usuario\Desktop\Vault-Rumbo\05-Diseño\img\DES-itera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0902" y="1371600"/>
            <a:ext cx="9407149" cy="2651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fuente de verdad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un repositorio Git, en Markdown y Mermaid.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55848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38728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→ revisión → formalizado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38728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formaliza sin la aprobación de los tres.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63056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5936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registradas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decisiones con alternativas y justificación.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970264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53144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y frentes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153144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semanal; cada uno lleva un frente y el resto revisa.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control de calidad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C:\Users\Usuario\Desktop\Vault-Rumbo\05-Diseño\img\DES-pipeline-calid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5865"/>
            <a:ext cx="11091672" cy="114595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200400"/>
            <a:ext cx="530352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383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trazabilidad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840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Documentación: commits chicos sobre la rama principal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(desde PC2): una rama por funcionalidad y pull request revisado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commit cita la regla o decisión que implementa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con su propia identidad de Git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Estilo y tipos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ruff, mypy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ESLint, TypeScript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Vitest, Playwright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ESLint, TypeScript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Jest, Maestro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126480" y="5257800"/>
            <a:ext cx="5513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Seguridad: pip-audit, pnpm audit, bandit, Semgrep y gitleaks. Dependabot propone las actualizaciones.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gráficas: prototipo en Figma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03-cu14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7429"/>
            <a:ext cx="5971032" cy="492610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0" y="1377429"/>
            <a:ext cx="5971032" cy="4926101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50876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508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149047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estilo con una pantalla: la agenda del día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37744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5915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diseño liviano: paleta del equipo, Plus Jakarta Sans, 7 componentes y 28 íconos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324612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246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2278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clave del circuito y después el resto de los casos de uso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411480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09651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por perfil y mobile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498348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4983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9651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Navegable: cada pantalla se alcanza desde un punto de inicio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97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AA · el color nunca es la única señal · «Deshacer» en lugar de confirmar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vista por perfil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03-cu14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236" y="1371600"/>
            <a:ext cx="2826327" cy="2331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4236" y="1371600"/>
            <a:ext cx="2826327" cy="2331720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4904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circuito; su agenda y su dashboard</a:t>
            </a:r>
            <a:endParaRPr lang="en-US" sz="1300" dirty="0"/>
          </a:p>
        </p:txBody>
      </p:sp>
      <p:pic>
        <p:nvPicPr>
          <p:cNvPr id="11" name="Image 1" descr="C:\Users\Usuario\Desktop\Vault-Rumbo\07-Entregables\Prototipo\img\49-admin-agenda-agenc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796" y="1371600"/>
            <a:ext cx="2826327" cy="2331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67796" y="1371600"/>
            <a:ext cx="2826327" cy="2331720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37260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37260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toda la agencia y configuración</a:t>
            </a:r>
            <a:endParaRPr lang="en-US" sz="1300" dirty="0"/>
          </a:p>
        </p:txBody>
      </p:sp>
      <p:pic>
        <p:nvPicPr>
          <p:cNvPr id="15" name="Image 2" descr="C:\Users\Usuario\Desktop\Vault-Rumbo\07-Entregables\Prototipo\img\28-cu21-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24884"/>
            <a:ext cx="3017520" cy="2145792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024884"/>
            <a:ext cx="3017520" cy="2145792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749040" y="4389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3749040" y="4846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y reportes de la empresa</a:t>
            </a:r>
            <a:endParaRPr lang="en-US" sz="1300" dirty="0"/>
          </a:p>
        </p:txBody>
      </p:sp>
      <p:pic>
        <p:nvPicPr>
          <p:cNvPr id="19" name="Image 3" descr="C:\Users\Usuario\Desktop\Vault-Rumbo\07-Entregables\Prototipo\img\34-freelance-embud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024884"/>
            <a:ext cx="3017520" cy="214579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172200" y="4024884"/>
            <a:ext cx="3017520" cy="2145792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372600" y="4389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72600" y="4846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sus clientes, oportunidades y viajes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agenda, alertas y clientes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35-mobile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1318" y="1417320"/>
            <a:ext cx="1690123" cy="3657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813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9" name="Image 1" descr="C:\Users\Usuario\Desktop\Vault-Rumbo\07-Entregables\Prototipo\img\53-mobile-detalle-aler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118" y="1417320"/>
            <a:ext cx="1690123" cy="3657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101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11" name="Image 2" descr="C:\Users\Usuario\Desktop\Vault-Rumbo\07-Entregables\Prototipo\img\57-mobile-clien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918" y="1417320"/>
            <a:ext cx="1690123" cy="3657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1389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13" name="Image 3" descr="C:\Users\Usuario\Desktop\Vault-Rumbo\07-Entregables\Prototipo\img\36-mobile-ficha-clien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718" y="1417320"/>
            <a:ext cx="1690123" cy="36576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9677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548640" y="1554480"/>
            <a:ext cx="3566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la agenda y atender alertas: resolver, posponer, marcar como vista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recordatorios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clientes, ver su ficha y dar de alta uno nuevo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Cotizar, gestionar viajes y cobrar: desde la web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· la misma API y el mismo contrato que la web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35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del prototipo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373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inicio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06240" y="173736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06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1907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 · escritorio (empleado): inicio de sesión → agenda → cliente → consulta → cotización → viaje → cobro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06240" y="246888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062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45059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 · mobile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320040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 · dashboard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06240" y="393192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2062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91363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configuración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206240" y="466344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2062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464515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· embudo</a:t>
            </a:r>
            <a:endParaRPr lang="en-US" sz="1600" dirty="0"/>
          </a:p>
        </p:txBody>
      </p:sp>
      <p:sp>
        <p:nvSpPr>
          <p:cNvPr id="26" name="Text 24">
            <a:hlinkClick r:id="rId1" tooltip=""/>
          </p:cNvPr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figma.com/design/5rq8HOlZQ3uu4IUpBuhuZp · Present → Opciones → «Ajustar»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ARQUITECTURA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Arquitectura: vista general y despliegue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desplie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01503"/>
            <a:ext cx="11091672" cy="227775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49834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Cliente-servidor: web y mobile hablan en JSON con una única API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+ LangChain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on-premise en la agencia con Docker Compose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49834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automático diario a las 00:00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externo por Cloudflare Tunnel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diario con copia fuera del servidor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ARQUITECTURA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C4: contexto y contenedores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4-1-contex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80893"/>
            <a:ext cx="5394960" cy="2353414"/>
          </a:xfrm>
          <a:prstGeom prst="rect">
            <a:avLst/>
          </a:prstGeom>
        </p:spPr>
      </p:pic>
      <p:pic>
        <p:nvPicPr>
          <p:cNvPr id="8" name="Image 1" descr="C:\Users\Usuario\Desktop\Vault-Rumbo\05-Diseño\Arquitectura\img\ARQ-C4-2-contenedo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2670130"/>
            <a:ext cx="5394960" cy="197494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6035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 · Contexto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245352" y="6035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· Contenedores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ARQUITECTURA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C4: componentes de la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4-3-compone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5270"/>
            <a:ext cx="11091672" cy="33388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2120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capas: presentación, negocio y datos, más core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paquete por módulo funcional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52120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por fila: el filtro por rol es obligatorio en toda lectura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autor y fecha en cada cambio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ARQUITECTURA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en Rumbo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MV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84374"/>
            <a:ext cx="11091672" cy="25748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(React) y mobile (React Native)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9768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 y esquemas de la API FastAPI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4672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Servicios, estados, políticas y PostgreSQL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y Controlador se comunican en JSON según el contrato OpenAPI.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ARQUITECTURA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Vista–Controlador: OpenAPI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REST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con permisos por operación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11091672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474720"/>
            <a:ext cx="10515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3.1 en JSON, validado con Redocly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operación declara el rol que la puede usar y los casos de uso que realiza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uniformes en formato application/problem+json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Esquemas completos del circuito central: Cliente, Oportunidad, Cotización, Viaje, Pago y Alerta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y mobile generan sus tipos desde el contrato (openapi-typescript)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35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PC1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registradas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prototipadas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API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22506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5166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Próximo: PC2 · 20/11/26 —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funcional de los módulos núcleo, sobre este diseño, en ramas y pull requests.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Universidad de Morón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Rumbo — PC1</dc:title>
  <dc:subject>PptxGenJS Presentation</dc:subject>
  <dc:creator>Francisco Luciano, Nahuel Viniegra y Paloma Patiño</dc:creator>
  <cp:lastModifiedBy>Francisco Luciano, Nahuel Viniegra y Paloma Patiño</cp:lastModifiedBy>
  <cp:revision>1</cp:revision>
  <dcterms:created xsi:type="dcterms:W3CDTF">2026-09-30T22:08:11Z</dcterms:created>
  <dcterms:modified xsi:type="dcterms:W3CDTF">2026-09-30T22:08:11Z</dcterms:modified>
</cp:coreProperties>
</file>