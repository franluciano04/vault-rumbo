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Carátula del documento de definición del CRM Rumbo, a partir del relevamiento hecho con la agencia.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Justificación: el problema es real y cuesta plata; el activo de la agencia son los clientes fieles; las herramientas genéricas no cubren la lógica del turismo; y el impacto es medible. Además, como proyecto integrador combina todas las áreas de la carrera.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derivados del relevamiento: digitalizar lo que está en papel, fidelizar, ordenar la venta, controlar la economía, no perder vencimientos y decidir con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Alcance: 9 módulos que cubren clientes, viajes, economía, alertas, cotizaciones, hoteles, redes, reportes y calendario. Todo en web y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Límites: se acota para no sobredimensionar. Facturación y cotizador por scraping quedan como "a definir" / fase 2, mostrando criterio de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Actores: agente/asesor (usuario principal), administrador/dueña, encargado de redes y el pasajero como actor externo. El cotizador asistido se apoya en un servicio externo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uso genérico end-to-end: consulta → cliente → cotización → reserva (con economía) → seguimiento (alertas) → post-venta (reseña). Incluye flujos alternativos (insistencia, cuotas, formularios por destino) y la postcondición.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· DEFINICIÓN DEL PROYECTO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868680" y="2331720"/>
            <a:ext cx="786384" cy="786384"/>
          </a:xfrm>
          <a:prstGeom prst="ellipse">
            <a:avLst/>
          </a:prstGeom>
          <a:solidFill>
            <a:srgbClr val="F0A93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04" y="2544044"/>
            <a:ext cx="361737" cy="3617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Rumbo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6868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para agencias de turismo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· Alcance · Límites · Actores · Caso de uso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campo 2026 · Ingeniería Informática (UM)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VALE LA PENA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manual de la agencia genera problemas concretos que un sistema a medida resuelve mejor que Excel o un CRM genérico.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658368" cy="658368"/>
          </a:xfrm>
          <a:prstGeom prst="ellipse">
            <a:avLst/>
          </a:prstGeom>
          <a:solidFill>
            <a:srgbClr val="E8674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31" y="2216871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2496" y="198424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real y costoso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82496" y="23317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en papel y Excel hace que se pierdan ventas, se olviden cobros y no quede memoria del cliente.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45352" y="178308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1384" y="2039112"/>
            <a:ext cx="658368" cy="65836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143" y="2216871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9208" y="198424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activo son los clientes fieles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79208" y="23317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pocos clientes nuevos, retener y volver a venderles sostiene el negocio: el sistema aprovecha historial y preferencias.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2918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547872"/>
            <a:ext cx="658368" cy="658368"/>
          </a:xfrm>
          <a:prstGeom prst="ellipse">
            <a:avLst/>
          </a:prstGeom>
          <a:solidFill>
            <a:srgbClr val="F0A9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431" y="3725631"/>
            <a:ext cx="302849" cy="3028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82496" y="34930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genéricas no alcanzan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82496" y="38404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Excel ni un CRM genérico entienden reservas, comisiones, cuotas y vencimientos propios del turismo.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45352" y="32918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01384" y="3547872"/>
            <a:ext cx="658368" cy="658368"/>
          </a:xfrm>
          <a:prstGeom prst="ellipse">
            <a:avLst/>
          </a:prstGeom>
          <a:solidFill>
            <a:srgbClr val="3E9B7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143" y="3725631"/>
            <a:ext cx="302849" cy="30284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9208" y="34930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379208" y="38404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administrativo, menos vencimientos perdidos y más consultas que terminan en venta.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828032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0E5B63"/>
          </a:solidFill>
          <a:ln/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68680" y="5065776"/>
            <a:ext cx="457200" cy="457200"/>
          </a:xfrm>
          <a:prstGeom prst="ellipse">
            <a:avLst/>
          </a:prstGeom>
          <a:solidFill>
            <a:srgbClr val="0A42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5189220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4956048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proyecto integrador.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web, mobile, backend, base de datos relacional, API REST e IA sobre una problemática concreta y verificable.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Y PARA QUÉ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buscamos resolver con Rumbo, a partir de lo que la agencia hace hoy a mano.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03120"/>
            <a:ext cx="658368" cy="65836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31" y="2280879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2496" y="204825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y centralizar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82496" y="239572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las carpetas físicas de cada viaje a un único sistema de clientes y viajes.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5352" y="18288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1384" y="2103120"/>
            <a:ext cx="658368" cy="658368"/>
          </a:xfrm>
          <a:prstGeom prst="ellipse">
            <a:avLst/>
          </a:prstGeom>
          <a:solidFill>
            <a:srgbClr val="E867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143" y="2280879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9208" y="204825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 a los clientes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379208" y="239572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con preferencias e historial, segmentación y seguimiento post-viaje.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401568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675888"/>
            <a:ext cx="658368" cy="658368"/>
          </a:xfrm>
          <a:prstGeom prst="ellipse">
            <a:avLst/>
          </a:prstGeom>
          <a:solidFill>
            <a:srgbClr val="F0A9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431" y="3853647"/>
            <a:ext cx="302849" cy="3028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82496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el circuito de venta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682496" y="3968496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consulta (Instagram/WhatsApp) a la cotización y el cierre, sin perder pasos.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45352" y="3401568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01384" y="3675888"/>
            <a:ext cx="658368" cy="658368"/>
          </a:xfrm>
          <a:prstGeom prst="ellipse">
            <a:avLst/>
          </a:prstGeom>
          <a:solidFill>
            <a:srgbClr val="3E9B7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143" y="3853647"/>
            <a:ext cx="302849" cy="30284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9208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la economía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379208" y="3968496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venta, costo neto, comisión automática y estado de pagos y cuotas.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974336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04672" y="5248656"/>
            <a:ext cx="658368" cy="658368"/>
          </a:xfrm>
          <a:prstGeom prst="ellipse">
            <a:avLst/>
          </a:prstGeom>
          <a:solidFill>
            <a:srgbClr val="4E93A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31" y="5426415"/>
            <a:ext cx="302849" cy="3028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82496" y="519379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perder vencimientos ni tareas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682496" y="554126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pagos, formularios por destino e insistencia/seguimiento.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245352" y="4974336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501384" y="5248656"/>
            <a:ext cx="658368" cy="658368"/>
          </a:xfrm>
          <a:prstGeom prst="ellipse">
            <a:avLst/>
          </a:prstGeom>
          <a:solidFill>
            <a:srgbClr val="0A42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9143" y="5426415"/>
            <a:ext cx="302849" cy="30284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79208" y="519379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datos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7379208" y="554126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estadísticas y reportes mensuales del negocio.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que cubre el sistema, en web y mobile.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5295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029968"/>
            <a:ext cx="548640" cy="548640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9" y="2178101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116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2322576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preferencias, historial y segmentación (familia, amigos, individual).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810512"/>
            <a:ext cx="35295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7136" y="2029968"/>
            <a:ext cx="548640" cy="548640"/>
          </a:xfrm>
          <a:prstGeom prst="ellipse">
            <a:avLst/>
          </a:prstGeom>
          <a:solidFill>
            <a:srgbClr val="3E9B7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269" y="217810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0116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212080" y="2322576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viaje, categorías (ej. salida grupal) y estados.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810512"/>
            <a:ext cx="35295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2029968"/>
            <a:ext cx="548640" cy="548640"/>
          </a:xfrm>
          <a:prstGeom prst="ellipse">
            <a:avLst/>
          </a:prstGeom>
          <a:solidFill>
            <a:srgbClr val="E8674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309" y="2178101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20116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y pagos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961120" y="2322576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Venta, costo neto, comisión automática, cuotas, checklist y % pagado.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291840"/>
            <a:ext cx="35295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8096" y="3511296"/>
            <a:ext cx="548640" cy="548640"/>
          </a:xfrm>
          <a:prstGeom prst="ellipse">
            <a:avLst/>
          </a:prstGeom>
          <a:solidFill>
            <a:srgbClr val="F0A93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9" y="3659429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34930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recordatorios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463040" y="3803904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Pagos, formularios por destino, insistencia y reseñas post-viaje.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97680" y="3291840"/>
            <a:ext cx="35295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17136" y="3511296"/>
            <a:ext cx="548640" cy="548640"/>
          </a:xfrm>
          <a:prstGeom prst="ellipse">
            <a:avLst/>
          </a:prstGeom>
          <a:solidFill>
            <a:srgbClr val="4E93A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269" y="3659429"/>
            <a:ext cx="252374" cy="25237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34930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212080" y="3803904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+ formulario que genera el documento; cotizador asistido.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46720" y="3291840"/>
            <a:ext cx="35295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66176" y="3511296"/>
            <a:ext cx="548640" cy="548640"/>
          </a:xfrm>
          <a:prstGeom prst="ellipse">
            <a:avLst/>
          </a:prstGeom>
          <a:solidFill>
            <a:srgbClr val="0A42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4309" y="3659429"/>
            <a:ext cx="252374" cy="25237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34930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hoteles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961120" y="3803904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Hoteles vendidos con reseñas para consultar y recomendar.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48640" y="4773168"/>
            <a:ext cx="35295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68096" y="4992624"/>
            <a:ext cx="548640" cy="548640"/>
          </a:xfrm>
          <a:prstGeom prst="ellipse">
            <a:avLst/>
          </a:prstGeom>
          <a:solidFill>
            <a:srgbClr val="3E9B7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229" y="5140757"/>
            <a:ext cx="252374" cy="25237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63040" y="49743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1463040" y="5285232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contenido, generador de propuestas y tablero kanban.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297680" y="4773168"/>
            <a:ext cx="35295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517136" y="4992624"/>
            <a:ext cx="548640" cy="548640"/>
          </a:xfrm>
          <a:prstGeom prst="ellipse">
            <a:avLst/>
          </a:prstGeom>
          <a:solidFill>
            <a:srgbClr val="E8674C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5269" y="5140757"/>
            <a:ext cx="252374" cy="25237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12080" y="49743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y reportes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5212080" y="5285232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generales y reportes mensuales.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8046720" y="4773168"/>
            <a:ext cx="35295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266176" y="4992624"/>
            <a:ext cx="548640" cy="548640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4309" y="5140757"/>
            <a:ext cx="252374" cy="25237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961120" y="49743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viajes</a:t>
            </a:r>
            <a:endParaRPr lang="en-US" sz="1450" dirty="0"/>
          </a:p>
        </p:txBody>
      </p:sp>
      <p:sp>
        <p:nvSpPr>
          <p:cNvPr id="49" name="Text 38"/>
          <p:cNvSpPr/>
          <p:nvPr/>
        </p:nvSpPr>
        <p:spPr>
          <a:xfrm>
            <a:off x="8961120" y="5285232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agenda con salidas y fechas clave.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DÓNDE LLEGA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y temas a definir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sistema no hará en esta etapa, para acotar el alcance.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48840"/>
            <a:ext cx="548640" cy="548640"/>
          </a:xfrm>
          <a:prstGeom prst="ellipse">
            <a:avLst/>
          </a:prstGeom>
          <a:solidFill>
            <a:srgbClr val="E8674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229697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926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procesa pagos online: registra pagos, cuotas y vencimientos, pero no cobra.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639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363931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el asesoramiento del agente: lo asiste, no decide por él.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43525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435254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publica en redes por sí solo: propone y organiza el contenido.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50657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506577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 con mayoristas / GDS en esta etapa.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53912" y="1874520"/>
            <a:ext cx="5486400" cy="3977640"/>
          </a:xfrm>
          <a:prstGeom prst="roundRect">
            <a:avLst>
              <a:gd name="adj" fmla="val 2759"/>
            </a:avLst>
          </a:prstGeom>
          <a:solidFill>
            <a:srgbClr val="FCEBCB"/>
          </a:solidFill>
          <a:ln/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2148840"/>
            <a:ext cx="548640" cy="548640"/>
          </a:xfrm>
          <a:prstGeom prst="ellipse">
            <a:avLst/>
          </a:prstGeom>
          <a:solidFill>
            <a:srgbClr val="F0A93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3" y="2296973"/>
            <a:ext cx="252374" cy="25237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41464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(posible fase 2)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519672" y="2926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facturación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19672" y="32004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5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inclusión y alcance quedan por definir.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519672" y="3886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 automático (scraping)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19672" y="4160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5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y detector de oportunidades sujetos a viabilidad técnica y legal; podría quedar asistido, no 100% automático.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519672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externas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519672" y="51206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5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directa en redes o conexión con proveedores, según se defina.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USAN EL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PyME una misma persona puede cubrir varios roles.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30552"/>
            <a:ext cx="749808" cy="74980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08" y="2333000"/>
            <a:ext cx="344912" cy="344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665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/ Asesor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828800" y="241401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8EAE9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0" y="2414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principal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28800" y="27432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consultas, gestiona clientes, cotiza, arma viajes y controla pagos y alertas.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1810512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19672" y="2130552"/>
            <a:ext cx="749808" cy="749808"/>
          </a:xfrm>
          <a:prstGeom prst="ellipse">
            <a:avLst/>
          </a:prstGeom>
          <a:solidFill>
            <a:srgbClr val="3E9B7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120" y="2333000"/>
            <a:ext cx="344912" cy="344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25512" y="20665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/ Dueña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7525512" y="241401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8EAE9"/>
          </a:solidFill>
          <a:ln/>
        </p:spPr>
      </p:sp>
      <p:sp>
        <p:nvSpPr>
          <p:cNvPr id="17" name="Text 13"/>
          <p:cNvSpPr/>
          <p:nvPr/>
        </p:nvSpPr>
        <p:spPr>
          <a:xfrm>
            <a:off x="7525512" y="2414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525512" y="27432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comisiones, gestiona usuarios y consulta reportes y estadísticas.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3602736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3922776"/>
            <a:ext cx="749808" cy="749808"/>
          </a:xfrm>
          <a:prstGeom prst="ellipse">
            <a:avLst/>
          </a:prstGeom>
          <a:solidFill>
            <a:srgbClr val="F0A93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" y="4125224"/>
            <a:ext cx="344912" cy="344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28800" y="3858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 de redes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1828800" y="42062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8EAE9"/>
          </a:solidFill>
          <a:ln/>
        </p:spPr>
      </p:sp>
      <p:sp>
        <p:nvSpPr>
          <p:cNvPr id="24" name="Text 19"/>
          <p:cNvSpPr/>
          <p:nvPr/>
        </p:nvSpPr>
        <p:spPr>
          <a:xfrm>
            <a:off x="182880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1828800" y="4535424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 el calendario de contenido, genera propuestas y usa el tablero kanban.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45352" y="3602736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19672" y="3922776"/>
            <a:ext cx="749808" cy="749808"/>
          </a:xfrm>
          <a:prstGeom prst="ellipse">
            <a:avLst/>
          </a:prstGeom>
          <a:solidFill>
            <a:srgbClr val="E8674C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120" y="4125224"/>
            <a:ext cx="344912" cy="344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25512" y="3858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Pasajero / Cliente</a:t>
            </a:r>
            <a:endParaRPr lang="en-US" sz="1650" dirty="0"/>
          </a:p>
        </p:txBody>
      </p:sp>
      <p:sp>
        <p:nvSpPr>
          <p:cNvPr id="30" name="Shape 24"/>
          <p:cNvSpPr/>
          <p:nvPr/>
        </p:nvSpPr>
        <p:spPr>
          <a:xfrm>
            <a:off x="7525512" y="42062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8EAE9"/>
          </a:solidFill>
          <a:ln/>
        </p:spPr>
      </p:sp>
      <p:sp>
        <p:nvSpPr>
          <p:cNvPr id="31" name="Text 25"/>
          <p:cNvSpPr/>
          <p:nvPr/>
        </p:nvSpPr>
        <p:spPr>
          <a:xfrm>
            <a:off x="7525512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externo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525512" y="4535424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cotizaciones y recordatorios, y deja reseñas post-viaje. No opera el sistema.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GENÉRICO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consulta a la venta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principal: </a:t>
            </a:r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/ Asesor    </a:t>
            </a:r>
            <a:pPr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Precondición: </a:t>
            </a:r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una consulta por Instagram o WhatsApp.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6352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01090" y="2057400"/>
            <a:ext cx="566928" cy="56692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61" y="2210471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679192"/>
            <a:ext cx="1525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Consulta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926080"/>
            <a:ext cx="1488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Pasajeros, destino y fechas.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468" y="248259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58212" y="1874520"/>
            <a:ext cx="16352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92374" y="2057400"/>
            <a:ext cx="566928" cy="56692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445" y="221047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13076" y="2679192"/>
            <a:ext cx="1525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Cliente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531364" y="2926080"/>
            <a:ext cx="1488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preferencias, segmento.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1752" y="2482596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49496" y="1874520"/>
            <a:ext cx="16352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83658" y="2057400"/>
            <a:ext cx="566928" cy="56692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729" y="2210471"/>
            <a:ext cx="260787" cy="26078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04360" y="2679192"/>
            <a:ext cx="1525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Cotización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422648" y="2926080"/>
            <a:ext cx="1488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→ documento.</a:t>
            </a:r>
            <a:endParaRPr lang="en-US" sz="9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3036" y="2482596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0780" y="1874520"/>
            <a:ext cx="16352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774942" y="2057400"/>
            <a:ext cx="566928" cy="56692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8013" y="2210471"/>
            <a:ext cx="260787" cy="26078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95644" y="2679192"/>
            <a:ext cx="1525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Reserva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6313932" y="2926080"/>
            <a:ext cx="1488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Venta, costo, comisión, cuotas.</a:t>
            </a:r>
            <a:endParaRPr lang="en-US" sz="9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4320" y="2482596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32064" y="1874520"/>
            <a:ext cx="16352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666226" y="2057400"/>
            <a:ext cx="566928" cy="56692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9297" y="2210471"/>
            <a:ext cx="260787" cy="260787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86928" y="2679192"/>
            <a:ext cx="1525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Seguimiento</a:t>
            </a:r>
            <a:endParaRPr lang="en-US" sz="1250" dirty="0"/>
          </a:p>
        </p:txBody>
      </p:sp>
      <p:sp>
        <p:nvSpPr>
          <p:cNvPr id="33" name="Text 22"/>
          <p:cNvSpPr/>
          <p:nvPr/>
        </p:nvSpPr>
        <p:spPr>
          <a:xfrm>
            <a:off x="8205216" y="2926080"/>
            <a:ext cx="1488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pago y formularios.</a:t>
            </a:r>
            <a:endParaRPr lang="en-US" sz="9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5604" y="2482596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10023348" y="1874520"/>
            <a:ext cx="16352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557510" y="2057400"/>
            <a:ext cx="566928" cy="56692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10581" y="2210471"/>
            <a:ext cx="260787" cy="260787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0078212" y="2679192"/>
            <a:ext cx="1525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Post-venta</a:t>
            </a:r>
            <a:endParaRPr lang="en-US" sz="1250" dirty="0"/>
          </a:p>
        </p:txBody>
      </p:sp>
      <p:sp>
        <p:nvSpPr>
          <p:cNvPr id="39" name="Text 26"/>
          <p:cNvSpPr/>
          <p:nvPr/>
        </p:nvSpPr>
        <p:spPr>
          <a:xfrm>
            <a:off x="10096500" y="2926080"/>
            <a:ext cx="1488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 y hotel al catálogo.</a:t>
            </a:r>
            <a:endParaRPr lang="en-US" sz="950" dirty="0"/>
          </a:p>
        </p:txBody>
      </p:sp>
      <p:sp>
        <p:nvSpPr>
          <p:cNvPr id="40" name="Shape 27"/>
          <p:cNvSpPr/>
          <p:nvPr/>
        </p:nvSpPr>
        <p:spPr>
          <a:xfrm>
            <a:off x="548640" y="3611880"/>
            <a:ext cx="67665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41" name="Text 28"/>
          <p:cNvSpPr/>
          <p:nvPr/>
        </p:nvSpPr>
        <p:spPr>
          <a:xfrm>
            <a:off x="822960" y="3831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alternativos</a:t>
            </a:r>
            <a:endParaRPr lang="en-US" sz="1500" dirty="0"/>
          </a:p>
        </p:txBody>
      </p:sp>
      <p:sp>
        <p:nvSpPr>
          <p:cNvPr id="42" name="Text 29"/>
          <p:cNvSpPr/>
          <p:nvPr/>
        </p:nvSpPr>
        <p:spPr>
          <a:xfrm>
            <a:off x="868680" y="427024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3" name="Text 30"/>
          <p:cNvSpPr/>
          <p:nvPr/>
        </p:nvSpPr>
        <p:spPr>
          <a:xfrm>
            <a:off x="1143000" y="42702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responde → el sistema agenda un recordatorio de insistencia (volver a preguntar en X días).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868680" y="4754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5" name="Text 32"/>
          <p:cNvSpPr/>
          <p:nvPr/>
        </p:nvSpPr>
        <p:spPr>
          <a:xfrm>
            <a:off x="1143000" y="4754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cuotas → se registran vencimientos escalonados; aviso un mes antes de cada uno.</a:t>
            </a:r>
            <a:endParaRPr lang="en-US" sz="1200" dirty="0"/>
          </a:p>
        </p:txBody>
      </p:sp>
      <p:sp>
        <p:nvSpPr>
          <p:cNvPr id="46" name="Text 33"/>
          <p:cNvSpPr/>
          <p:nvPr/>
        </p:nvSpPr>
        <p:spPr>
          <a:xfrm>
            <a:off x="868680" y="523951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7" name="Text 34"/>
          <p:cNvSpPr/>
          <p:nvPr/>
        </p:nvSpPr>
        <p:spPr>
          <a:xfrm>
            <a:off x="1143000" y="52395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con requisitos → recordatorio del formulario específico según el destino.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7498080" y="3611880"/>
            <a:ext cx="4142232" cy="2148840"/>
          </a:xfrm>
          <a:prstGeom prst="roundRect">
            <a:avLst>
              <a:gd name="adj" fmla="val 5106"/>
            </a:avLst>
          </a:prstGeom>
          <a:solidFill>
            <a:srgbClr val="0E5B63"/>
          </a:solidFill>
          <a:ln/>
          <a:effectLst>
            <a:outerShdw sx="100000" sy="100000" kx="0" ky="0" algn="bl" rotWithShape="0" blurRad="114300" dist="38100" dir="5400000">
              <a:srgbClr val="1E2A28">
                <a:alpha val="15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7772400" y="3849624"/>
            <a:ext cx="457200" cy="457200"/>
          </a:xfrm>
          <a:prstGeom prst="ellipse">
            <a:avLst/>
          </a:prstGeom>
          <a:solidFill>
            <a:srgbClr val="0A424A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5844" y="3973068"/>
            <a:ext cx="210312" cy="21031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8339328" y="3904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Postcondición</a:t>
            </a:r>
            <a:endParaRPr lang="en-US" sz="1500" dirty="0"/>
          </a:p>
        </p:txBody>
      </p:sp>
      <p:sp>
        <p:nvSpPr>
          <p:cNvPr id="52" name="Text 38"/>
          <p:cNvSpPr/>
          <p:nvPr/>
        </p:nvSpPr>
        <p:spPr>
          <a:xfrm>
            <a:off x="7818120" y="4434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viaje queda registrado con su control económico, los pagos y alertas configurados, la ficha del cliente actualizada y el hotel sumado al catálogo.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2026-08-20T22:26:22Z</dcterms:created>
  <dcterms:modified xsi:type="dcterms:W3CDTF">2026-08-20T22:26:22Z</dcterms:modified>
</cp:coreProperties>
</file>