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883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Carátula: Trabajo de campo 2026 — Propuestas. Integrantes: Paloma Patiño, Nahuel Viniegra, Francisco Luciano.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comparativa: las tres propuestas lado a lado con el mismo formato (problema, propuesta, etiquetas de web+mobile, diferencial y dominio) para que los profesores elijan. El detalle de cada una está en las slides siguientes.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 1 (equipo): app de hábitos saludables. Problema real (sostener hábitos), propuesta con IA que acompaña sin diagnosticar. Límite claro: no reemplaza a profesionales de la salud.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 2 (equipo): red social gastronómica + reservas. Une descubrimiento social y reservas en una plataforma, con mecanismos de confianza (verificación de negocios, reseñas ligadas a reserva).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 3 (Francisco): CRM de turismo con IA. Centraliza lo que hoy está disperso; diferencial: entiende reservas, señas y proveedores, y suma IA de gestión y de contenido.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F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INFORMÁTICA · UNIVERSIDAD DE MORÓN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868680" y="2395728"/>
            <a:ext cx="237744" cy="237744"/>
          </a:xfrm>
          <a:prstGeom prst="ellipse">
            <a:avLst/>
          </a:prstGeom>
          <a:solidFill>
            <a:srgbClr val="2E8B6B"/>
          </a:solidFill>
          <a:ln/>
        </p:spPr>
      </p:sp>
      <p:sp>
        <p:nvSpPr>
          <p:cNvPr id="4" name="Shape 2"/>
          <p:cNvSpPr/>
          <p:nvPr/>
        </p:nvSpPr>
        <p:spPr>
          <a:xfrm>
            <a:off x="1197864" y="2395728"/>
            <a:ext cx="237744" cy="237744"/>
          </a:xfrm>
          <a:prstGeom prst="ellipse">
            <a:avLst/>
          </a:prstGeom>
          <a:solidFill>
            <a:srgbClr val="C24E33"/>
          </a:solidFill>
          <a:ln/>
        </p:spPr>
      </p:sp>
      <p:sp>
        <p:nvSpPr>
          <p:cNvPr id="5" name="Shape 3"/>
          <p:cNvSpPr/>
          <p:nvPr/>
        </p:nvSpPr>
        <p:spPr>
          <a:xfrm>
            <a:off x="1527048" y="2395728"/>
            <a:ext cx="237744" cy="237744"/>
          </a:xfrm>
          <a:prstGeom prst="ellipse">
            <a:avLst/>
          </a:prstGeom>
          <a:solidFill>
            <a:srgbClr val="F0A93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1635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0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CAMPO ·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6384" y="310896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822960" y="43708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propuestas para elegir el proyecto integrador.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5285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0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555955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Paloma Patiño</a:t>
            </a:r>
            <a:r>
              <a:rPr lang="en-US" sz="1900" b="1" dirty="0">
                <a:solidFill>
                  <a:srgbClr val="4E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Nahuel Viniegra</a:t>
            </a:r>
            <a:r>
              <a:rPr lang="en-US" sz="1900" b="1" dirty="0">
                <a:solidFill>
                  <a:srgbClr val="4E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Luciano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CAMPO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comparten la misma base </a:t>
            </a:r>
            <a:r>
              <a:rPr lang="en-US" sz="1400" dirty="0" err="1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r>
              <a:rPr lang="en-US" sz="14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web, mobile, backend, API REST y base relacional.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3511296" cy="44805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blurRad="114300" dist="38100" dir="5400000" algn="bl" rotWithShape="0">
              <a:srgbClr val="1E2A2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048256"/>
            <a:ext cx="566928" cy="566928"/>
          </a:xfrm>
          <a:prstGeom prst="ellipse">
            <a:avLst/>
          </a:prstGeom>
          <a:solidFill>
            <a:srgbClr val="2E8B6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455" y="2201327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2066544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E8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81328" y="2267712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de hábitos saludables con IA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86384" y="2980944"/>
            <a:ext cx="3035808" cy="0"/>
          </a:xfrm>
          <a:prstGeom prst="line">
            <a:avLst/>
          </a:prstGeom>
          <a:noFill/>
          <a:ln w="12700">
            <a:solidFill>
              <a:srgbClr val="E2E7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3090672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E8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86384" y="3300984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Cuesta sostener hábitos, organizar objetivos y ver la evolución en el tiempo.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86384" y="4096512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E8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86384" y="4306824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para registrar hábitos y actividades, con agentes de IA que acompañan (no diagnostican).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86384" y="5303520"/>
            <a:ext cx="3035808" cy="310896"/>
          </a:xfrm>
          <a:prstGeom prst="roundRect">
            <a:avLst>
              <a:gd name="adj" fmla="val 50000"/>
            </a:avLst>
          </a:prstGeom>
          <a:solidFill>
            <a:srgbClr val="DBEEE6"/>
          </a:solidFill>
          <a:ln/>
        </p:spPr>
      </p:sp>
      <p:sp>
        <p:nvSpPr>
          <p:cNvPr id="16" name="Text 13"/>
          <p:cNvSpPr/>
          <p:nvPr/>
        </p:nvSpPr>
        <p:spPr>
          <a:xfrm>
            <a:off x="786384" y="5303520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86384" y="568756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DBEEE6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" y="568756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de acompañamiento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340864" y="568756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DBEEE6"/>
          </a:solidFill>
          <a:ln/>
        </p:spPr>
      </p:sp>
      <p:sp>
        <p:nvSpPr>
          <p:cNvPr id="20" name="Text 17"/>
          <p:cNvSpPr/>
          <p:nvPr/>
        </p:nvSpPr>
        <p:spPr>
          <a:xfrm>
            <a:off x="2340864" y="568756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y hábitos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343400" y="1810512"/>
            <a:ext cx="3511296" cy="44805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blurRad="114300" dist="38100" dir="5400000" algn="bl" rotWithShape="0">
              <a:srgbClr val="1E2A28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81144" y="2048256"/>
            <a:ext cx="566928" cy="566928"/>
          </a:xfrm>
          <a:prstGeom prst="ellipse">
            <a:avLst/>
          </a:prstGeom>
          <a:solidFill>
            <a:srgbClr val="C24E33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215" y="2201327"/>
            <a:ext cx="260787" cy="260787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276088" y="2066544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24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02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5276088" y="2267712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social gastronómica con reservas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4581144" y="2980944"/>
            <a:ext cx="3035808" cy="0"/>
          </a:xfrm>
          <a:prstGeom prst="line">
            <a:avLst/>
          </a:prstGeom>
          <a:noFill/>
          <a:ln w="12700">
            <a:solidFill>
              <a:srgbClr val="E2E7E5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581144" y="3090672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24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581144" y="3300984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Descubrir restaurantes y reservar mesa viven hoy en apps separadas.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4581144" y="4096512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24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4581144" y="4306824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social gastronómico + gestión de reservas integrados en una sola plataforma.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4581144" y="5303520"/>
            <a:ext cx="3035808" cy="310896"/>
          </a:xfrm>
          <a:prstGeom prst="roundRect">
            <a:avLst>
              <a:gd name="adj" fmla="val 50000"/>
            </a:avLst>
          </a:prstGeom>
          <a:solidFill>
            <a:srgbClr val="F6E1D9"/>
          </a:solidFill>
          <a:ln/>
        </p:spPr>
      </p:sp>
      <p:sp>
        <p:nvSpPr>
          <p:cNvPr id="32" name="Text 28"/>
          <p:cNvSpPr/>
          <p:nvPr/>
        </p:nvSpPr>
        <p:spPr>
          <a:xfrm>
            <a:off x="4581144" y="5303520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F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4581144" y="568756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F6E1D9"/>
          </a:solidFill>
          <a:ln/>
        </p:spPr>
      </p:sp>
      <p:sp>
        <p:nvSpPr>
          <p:cNvPr id="34" name="Text 30"/>
          <p:cNvSpPr/>
          <p:nvPr/>
        </p:nvSpPr>
        <p:spPr>
          <a:xfrm>
            <a:off x="4581144" y="568756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F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+ Reservas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6135624" y="568756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F6E1D9"/>
          </a:solidFill>
          <a:ln/>
        </p:spPr>
      </p:sp>
      <p:sp>
        <p:nvSpPr>
          <p:cNvPr id="36" name="Text 32"/>
          <p:cNvSpPr/>
          <p:nvPr/>
        </p:nvSpPr>
        <p:spPr>
          <a:xfrm>
            <a:off x="6135624" y="568756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F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Gastronomía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8138160" y="1810512"/>
            <a:ext cx="3511296" cy="44805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  <a:effectLst>
            <a:outerShdw blurRad="114300" dist="38100" dir="5400000" algn="bl" rotWithShape="0">
              <a:srgbClr val="1E2A28">
                <a:alpha val="16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8375904" y="2048256"/>
            <a:ext cx="566928" cy="566928"/>
          </a:xfrm>
          <a:prstGeom prst="ellipse">
            <a:avLst/>
          </a:prstGeom>
          <a:solidFill>
            <a:srgbClr val="0E5B63"/>
          </a:solidFill>
          <a:ln/>
        </p:spPr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8975" y="2201327"/>
            <a:ext cx="260787" cy="260787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9070848" y="2066544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03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9070848" y="2267712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Rumbo — CRM de turismo con IA</a:t>
            </a:r>
            <a:endParaRPr lang="en-US" sz="1400" dirty="0"/>
          </a:p>
        </p:txBody>
      </p:sp>
      <p:sp>
        <p:nvSpPr>
          <p:cNvPr id="42" name="Shape 37"/>
          <p:cNvSpPr/>
          <p:nvPr/>
        </p:nvSpPr>
        <p:spPr>
          <a:xfrm>
            <a:off x="8375904" y="2980944"/>
            <a:ext cx="3035808" cy="0"/>
          </a:xfrm>
          <a:prstGeom prst="line">
            <a:avLst/>
          </a:prstGeom>
          <a:noFill/>
          <a:ln w="12700">
            <a:solidFill>
              <a:srgbClr val="E2E7E5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8375904" y="3090672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8375904" y="3300984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agencia lleva clientes, cobros y redes a mano, en Excel y cuadernos.</a:t>
            </a:r>
            <a:endParaRPr lang="en-US" sz="1250" dirty="0"/>
          </a:p>
        </p:txBody>
      </p:sp>
      <p:sp>
        <p:nvSpPr>
          <p:cNvPr id="45" name="Text 40"/>
          <p:cNvSpPr/>
          <p:nvPr/>
        </p:nvSpPr>
        <p:spPr>
          <a:xfrm>
            <a:off x="8375904" y="4096512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000" dirty="0"/>
          </a:p>
        </p:txBody>
      </p:sp>
      <p:sp>
        <p:nvSpPr>
          <p:cNvPr id="46" name="Text 41"/>
          <p:cNvSpPr/>
          <p:nvPr/>
        </p:nvSpPr>
        <p:spPr>
          <a:xfrm>
            <a:off x="8375904" y="4306824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específico de turismo que centraliza la gestión, con IA integrada.</a:t>
            </a:r>
            <a:endParaRPr lang="en-US" sz="1250" dirty="0"/>
          </a:p>
        </p:txBody>
      </p:sp>
      <p:sp>
        <p:nvSpPr>
          <p:cNvPr id="47" name="Shape 42"/>
          <p:cNvSpPr/>
          <p:nvPr/>
        </p:nvSpPr>
        <p:spPr>
          <a:xfrm>
            <a:off x="8375904" y="5303520"/>
            <a:ext cx="3035808" cy="310896"/>
          </a:xfrm>
          <a:prstGeom prst="roundRect">
            <a:avLst>
              <a:gd name="adj" fmla="val 50000"/>
            </a:avLst>
          </a:prstGeom>
          <a:solidFill>
            <a:srgbClr val="D8EAE9"/>
          </a:solidFill>
          <a:ln/>
        </p:spPr>
      </p:sp>
      <p:sp>
        <p:nvSpPr>
          <p:cNvPr id="48" name="Text 43"/>
          <p:cNvSpPr/>
          <p:nvPr/>
        </p:nvSpPr>
        <p:spPr>
          <a:xfrm>
            <a:off x="8375904" y="5303520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</a:t>
            </a:r>
            <a:endParaRPr lang="en-US" sz="1050" dirty="0"/>
          </a:p>
        </p:txBody>
      </p:sp>
      <p:sp>
        <p:nvSpPr>
          <p:cNvPr id="49" name="Shape 44"/>
          <p:cNvSpPr/>
          <p:nvPr/>
        </p:nvSpPr>
        <p:spPr>
          <a:xfrm>
            <a:off x="8375904" y="568756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D8EAE9"/>
          </a:solidFill>
          <a:ln/>
        </p:spPr>
      </p:sp>
      <p:sp>
        <p:nvSpPr>
          <p:cNvPr id="50" name="Text 45"/>
          <p:cNvSpPr/>
          <p:nvPr/>
        </p:nvSpPr>
        <p:spPr>
          <a:xfrm>
            <a:off x="8375904" y="568756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integrada</a:t>
            </a:r>
            <a:endParaRPr lang="en-US" sz="1050" dirty="0"/>
          </a:p>
        </p:txBody>
      </p:sp>
      <p:sp>
        <p:nvSpPr>
          <p:cNvPr id="51" name="Shape 46"/>
          <p:cNvSpPr/>
          <p:nvPr/>
        </p:nvSpPr>
        <p:spPr>
          <a:xfrm>
            <a:off x="9930384" y="568756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D8EAE9"/>
          </a:solidFill>
          <a:ln/>
        </p:spPr>
      </p:sp>
      <p:sp>
        <p:nvSpPr>
          <p:cNvPr id="52" name="Text 47"/>
          <p:cNvSpPr/>
          <p:nvPr/>
        </p:nvSpPr>
        <p:spPr>
          <a:xfrm>
            <a:off x="9930384" y="568756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Turismo · B2B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41248" cy="841248"/>
          </a:xfrm>
          <a:prstGeom prst="ellipse">
            <a:avLst/>
          </a:prstGeom>
          <a:solidFill>
            <a:srgbClr val="2E8B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72768" y="50292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54480" y="75895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de hábitos saludables con IA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2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642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938528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muchas personas les cuesta mantener hábitos saludables de forma constante, organizar sus objetivos y seguir su evolución a lo largo del tiempo.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66928" y="32918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3566160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 y mobile para registrar hábitos y actividades y visualizar el progreso. Incorpora agentes de IA que analizan lo registrado y acompañan el proceso, sin diagnosticar ni indicar tratamientos.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943600" y="166420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INCLUYE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2029968"/>
            <a:ext cx="548640" cy="548640"/>
          </a:xfrm>
          <a:prstGeom prst="ellipse">
            <a:avLst/>
          </a:prstGeom>
          <a:solidFill>
            <a:srgbClr val="2E8B6B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733" y="2178101"/>
            <a:ext cx="252374" cy="25237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656832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Alimentación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656832" y="234086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Comidas, horarios y observaciones del día.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0" y="2852928"/>
            <a:ext cx="548640" cy="548640"/>
          </a:xfrm>
          <a:prstGeom prst="ellipse">
            <a:avLst/>
          </a:prstGeom>
          <a:solidFill>
            <a:srgbClr val="2E8B6B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1733" y="3001061"/>
            <a:ext cx="252374" cy="25237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656832" y="28346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física y gimnasio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6656832" y="316382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Rutinas con series, repeticiones y pesos; running, ciclismo y más.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943600" y="3675888"/>
            <a:ext cx="548640" cy="548640"/>
          </a:xfrm>
          <a:prstGeom prst="ellipse">
            <a:avLst/>
          </a:prstGeom>
          <a:solidFill>
            <a:srgbClr val="2E8B6B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1733" y="3824021"/>
            <a:ext cx="252374" cy="25237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56832" y="36576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 e hidratación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6656832" y="398678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sueño, consumo de agua y pausas activas.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5943600" y="4498848"/>
            <a:ext cx="548640" cy="548640"/>
          </a:xfrm>
          <a:prstGeom prst="ellipse">
            <a:avLst/>
          </a:prstGeom>
          <a:solidFill>
            <a:srgbClr val="2E8B6B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1733" y="4646981"/>
            <a:ext cx="252374" cy="25237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656832" y="44805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Hábitos personalizados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6656832" y="480974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propios, recordatorios y notificaciones.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48640" y="5468112"/>
            <a:ext cx="11091672" cy="932688"/>
          </a:xfrm>
          <a:prstGeom prst="roundRect">
            <a:avLst>
              <a:gd name="adj" fmla="val 11765"/>
            </a:avLst>
          </a:prstGeom>
          <a:solidFill>
            <a:srgbClr val="2E8B6B"/>
          </a:solidFill>
          <a:ln/>
          <a:effectLst>
            <a:outerShdw blurRad="114300" dist="38100" dir="5400000" algn="bl" rotWithShape="0">
              <a:srgbClr val="1E2A28">
                <a:alpha val="1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9" name="Shape 23"/>
          <p:cNvSpPr/>
          <p:nvPr/>
        </p:nvSpPr>
        <p:spPr>
          <a:xfrm>
            <a:off x="6089904" y="5687568"/>
            <a:ext cx="0" cy="493776"/>
          </a:xfrm>
          <a:prstGeom prst="line">
            <a:avLst/>
          </a:prstGeom>
          <a:noFill/>
          <a:ln w="15240">
            <a:solidFill>
              <a:srgbClr val="1E6B5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68680" y="5751576"/>
            <a:ext cx="457200" cy="457200"/>
          </a:xfrm>
          <a:prstGeom prst="ellipse">
            <a:avLst/>
          </a:prstGeom>
          <a:solidFill>
            <a:srgbClr val="1E6B50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2124" y="5875020"/>
            <a:ext cx="210312" cy="21031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63040" y="5596128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de acompañamiento.  </a:t>
            </a:r>
            <a:r>
              <a:rPr lang="en-US" sz="1250" dirty="0">
                <a:solidFill>
                  <a:srgbClr val="D4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Resúmenes de progreso, detección de patrones y nuevos objetivos.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6355080" y="5751576"/>
            <a:ext cx="457200" cy="457200"/>
          </a:xfrm>
          <a:prstGeom prst="ellipse">
            <a:avLst/>
          </a:prstGeom>
          <a:solidFill>
            <a:srgbClr val="1E6B50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8524" y="5875020"/>
            <a:ext cx="210312" cy="21031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949440" y="5596128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 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41248" cy="841248"/>
          </a:xfrm>
          <a:prstGeom prst="ellipse">
            <a:avLst/>
          </a:prstGeom>
          <a:solidFill>
            <a:srgbClr val="C24E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72768" y="50292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4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54480" y="75895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social gastronómica con gestión de reservas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2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642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24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938528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se usan apps distintas para descubrir restaurantes (redes sociales) y para reservar (otras plataformas o por teléfono); no existe una que unifique ambas experiencias.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66928" y="32918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24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3566160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 y mobile que combina un feed social gastronómico con la gestión de reservas. Actores: comensal, negocio (Admin/Staff) y administrador de la plataforma que modera y aprueba negocios.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943600" y="166420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24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INCLUYE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2029968"/>
            <a:ext cx="548640" cy="548640"/>
          </a:xfrm>
          <a:prstGeom prst="ellipse">
            <a:avLst/>
          </a:prstGeom>
          <a:solidFill>
            <a:srgbClr val="C24E33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733" y="2178101"/>
            <a:ext cx="252374" cy="25237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656832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y descubrimiento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656832" y="234086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y reels de negocios; likes, comentarios, seguir y filtros.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0" y="2852928"/>
            <a:ext cx="548640" cy="548640"/>
          </a:xfrm>
          <a:prstGeom prst="ellipse">
            <a:avLst/>
          </a:prstGeom>
          <a:solidFill>
            <a:srgbClr val="C24E33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1733" y="3001061"/>
            <a:ext cx="252374" cy="25237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656832" y="28346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6656832" y="316382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Franjas horarias, mesas y estados; confirmación previa obligatoria.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943600" y="3675888"/>
            <a:ext cx="548640" cy="548640"/>
          </a:xfrm>
          <a:prstGeom prst="ellipse">
            <a:avLst/>
          </a:prstGeom>
          <a:solidFill>
            <a:srgbClr val="C24E33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1733" y="3824021"/>
            <a:ext cx="252374" cy="25237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56832" y="36576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negocio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6656832" y="398678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Publica, configura disponibilidad y gestiona su presencia.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5943600" y="4498848"/>
            <a:ext cx="548640" cy="548640"/>
          </a:xfrm>
          <a:prstGeom prst="ellipse">
            <a:avLst/>
          </a:prstGeom>
          <a:solidFill>
            <a:srgbClr val="C24E33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1733" y="4646981"/>
            <a:ext cx="252374" cy="25237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656832" y="44805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6656832" y="480974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con documentación y reseñas solo tras reserva confirmada.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48640" y="5468112"/>
            <a:ext cx="11091672" cy="932688"/>
          </a:xfrm>
          <a:prstGeom prst="roundRect">
            <a:avLst>
              <a:gd name="adj" fmla="val 11765"/>
            </a:avLst>
          </a:prstGeom>
          <a:solidFill>
            <a:srgbClr val="C24E33"/>
          </a:solidFill>
          <a:ln/>
          <a:effectLst>
            <a:outerShdw blurRad="114300" dist="38100" dir="5400000" algn="bl" rotWithShape="0">
              <a:srgbClr val="1E2A28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089904" y="5687568"/>
            <a:ext cx="0" cy="493776"/>
          </a:xfrm>
          <a:prstGeom prst="line">
            <a:avLst/>
          </a:prstGeom>
          <a:noFill/>
          <a:ln w="15240">
            <a:solidFill>
              <a:srgbClr val="8F352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68680" y="5751576"/>
            <a:ext cx="457200" cy="457200"/>
          </a:xfrm>
          <a:prstGeom prst="ellipse">
            <a:avLst/>
          </a:prstGeom>
          <a:solidFill>
            <a:srgbClr val="8F3520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2124" y="5875020"/>
            <a:ext cx="210312" cy="21031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63040" y="5596128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Diferenciales.  </a:t>
            </a:r>
            <a:r>
              <a:rPr lang="en-US" sz="1250" dirty="0">
                <a:solidFill>
                  <a:srgbClr val="F4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personalizadas y no-show → strike → restricción.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6355080" y="5751576"/>
            <a:ext cx="457200" cy="457200"/>
          </a:xfrm>
          <a:prstGeom prst="ellipse">
            <a:avLst/>
          </a:prstGeom>
          <a:solidFill>
            <a:srgbClr val="8F3520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8524" y="5875020"/>
            <a:ext cx="210312" cy="21031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949440" y="5641848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41248" cy="841248"/>
          </a:xfrm>
          <a:prstGeom prst="ellipse">
            <a:avLst/>
          </a:prstGeom>
          <a:solidFill>
            <a:srgbClr val="0E5B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72768" y="50292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54480" y="75895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para agencias de turismo con IA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2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642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938528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agencia de turismo PyME gestiona clientes, reservas, cobros y redes a mano, repartidos entre Excel, cuadernos y chats. Se pierden ventas, se olvidan cobros y no hay memoria del cliente.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66928" y="32918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3566160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específico de turismo que centraliza clientes, ventas, cobros y contenido de redes en un solo lugar, con IA integrada. Pensado para cómo trabaja realmente una agencia.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943600" y="166420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INCLUYE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2029968"/>
            <a:ext cx="548640" cy="548640"/>
          </a:xfrm>
          <a:prstGeom prst="ellipse">
            <a:avLst/>
          </a:prstGeom>
          <a:solidFill>
            <a:srgbClr val="0E5B63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733" y="2178101"/>
            <a:ext cx="252374" cy="25237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656832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656832" y="234086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con contacto, preferencias e historial de interacciones.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0" y="2852928"/>
            <a:ext cx="548640" cy="548640"/>
          </a:xfrm>
          <a:prstGeom prst="ellipse">
            <a:avLst/>
          </a:prstGeom>
          <a:solidFill>
            <a:srgbClr val="0E5B63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1733" y="3001061"/>
            <a:ext cx="252374" cy="25237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656832" y="28346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6656832" y="316382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Embudo visual de la consulta al cierre de la venta.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943600" y="3675888"/>
            <a:ext cx="548640" cy="548640"/>
          </a:xfrm>
          <a:prstGeom prst="ellipse">
            <a:avLst/>
          </a:prstGeom>
          <a:solidFill>
            <a:srgbClr val="0E5B63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1733" y="3824021"/>
            <a:ext cx="252374" cy="25237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56832" y="36576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Cobranzas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6656832" y="398678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Señas, cuotas y vencimientos, con recordatorios.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5943600" y="4498848"/>
            <a:ext cx="548640" cy="548640"/>
          </a:xfrm>
          <a:prstGeom prst="ellipse">
            <a:avLst/>
          </a:prstGeom>
          <a:solidFill>
            <a:srgbClr val="0E5B63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1733" y="4646981"/>
            <a:ext cx="252374" cy="25237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656832" y="44805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y reportes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6656832" y="480974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de contenido y métricas del negocio.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48640" y="5468112"/>
            <a:ext cx="11091672" cy="932688"/>
          </a:xfrm>
          <a:prstGeom prst="roundRect">
            <a:avLst>
              <a:gd name="adj" fmla="val 11765"/>
            </a:avLst>
          </a:prstGeom>
          <a:solidFill>
            <a:srgbClr val="0E5B63"/>
          </a:solidFill>
          <a:ln/>
          <a:effectLst>
            <a:outerShdw blurRad="114300" dist="38100" dir="5400000" algn="bl" rotWithShape="0">
              <a:srgbClr val="1E2A28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089904" y="5687568"/>
            <a:ext cx="0" cy="493776"/>
          </a:xfrm>
          <a:prstGeom prst="line">
            <a:avLst/>
          </a:prstGeom>
          <a:noFill/>
          <a:ln w="15240">
            <a:solidFill>
              <a:srgbClr val="0A424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68680" y="5751576"/>
            <a:ext cx="457200" cy="457200"/>
          </a:xfrm>
          <a:prstGeom prst="ellipse">
            <a:avLst/>
          </a:prstGeom>
          <a:solidFill>
            <a:srgbClr val="0A424A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2124" y="5875020"/>
            <a:ext cx="210312" cy="21031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63040" y="5596128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integrada.  </a:t>
            </a:r>
            <a:r>
              <a:rPr lang="en-US" sz="1250" dirty="0">
                <a:solidFill>
                  <a:srgbClr val="CF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asistida según resultados y generación de contenido para redes.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6355080" y="5751576"/>
            <a:ext cx="457200" cy="457200"/>
          </a:xfrm>
          <a:prstGeom prst="ellipse">
            <a:avLst/>
          </a:prstGeom>
          <a:solidFill>
            <a:srgbClr val="0A424A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8524" y="5875020"/>
            <a:ext cx="210312" cy="21031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949440" y="5596128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Mobile.  </a:t>
            </a:r>
            <a:r>
              <a:rPr lang="en-US" sz="1250" dirty="0">
                <a:solidFill>
                  <a:srgbClr val="CF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para la oficina (gestión y reportes) · Mobile para vista general.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814</Words>
  <Application>Microsoft Office PowerPoint</Application>
  <PresentationFormat>Panorámica</PresentationFormat>
  <Paragraphs>100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francisco luciano</cp:lastModifiedBy>
  <cp:revision>4</cp:revision>
  <dcterms:created xsi:type="dcterms:W3CDTF">2026-08-14T00:48:26Z</dcterms:created>
  <dcterms:modified xsi:type="dcterms:W3CDTF">2026-08-14T01:00:05Z</dcterms:modified>
</cp:coreProperties>
</file>